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a0d8a990f87496a" /><Relationship Type="http://schemas.openxmlformats.org/officeDocument/2006/relationships/extended-properties" Target="/docProps/app.xml" Id="Rb9017af503854ac2" /><Relationship Type="http://schemas.openxmlformats.org/officeDocument/2006/relationships/officeDocument" Target="/ppt/presentation.xml" Id="R35ebff593f82402a" /></Relationships>
</file>

<file path=ppt/presentation.xml><?xml version="1.0" encoding="utf-8"?>
<p:presentation xmlns:p="http://schemas.openxmlformats.org/presentationml/2006/main">
  <p:sldMasterIdLst>
    <p:sldMasterId xmlns:r="http://schemas.openxmlformats.org/officeDocument/2006/relationships" id="2147483648" r:id="R7bd8ff4149474092"/>
  </p:sldMasterIdLst>
  <p:notesMasterIdLst>
    <p:notesMasterId xmlns:r="http://schemas.openxmlformats.org/officeDocument/2006/relationships" r:id="R7fe9d38b5dee4016"/>
  </p:notesMasterIdLst>
  <p:sldIdLst>
    <p:sldId xmlns:r="http://schemas.openxmlformats.org/officeDocument/2006/relationships" id="256" r:id="R81770dbe467b4532"/>
    <p:sldId xmlns:r="http://schemas.openxmlformats.org/officeDocument/2006/relationships" id="257" r:id="R0007dc22492f4fdc"/>
    <p:sldId xmlns:r="http://schemas.openxmlformats.org/officeDocument/2006/relationships" id="258" r:id="Rcf97ecc4d9d74b2f"/>
    <p:sldId xmlns:r="http://schemas.openxmlformats.org/officeDocument/2006/relationships" id="259" r:id="R21eabfd0fb884b92"/>
    <p:sldId xmlns:r="http://schemas.openxmlformats.org/officeDocument/2006/relationships" id="260" r:id="R5b504d8feb754a13"/>
    <p:sldId xmlns:r="http://schemas.openxmlformats.org/officeDocument/2006/relationships" id="261" r:id="R7173a4c7d54c4307"/>
    <p:sldId xmlns:r="http://schemas.openxmlformats.org/officeDocument/2006/relationships" id="262" r:id="Rcf58d48d8ccc4a3b"/>
    <p:sldId xmlns:r="http://schemas.openxmlformats.org/officeDocument/2006/relationships" id="263" r:id="R7e2f7e10ad56409c"/>
    <p:sldId xmlns:r="http://schemas.openxmlformats.org/officeDocument/2006/relationships" id="264" r:id="Ra245a80501264b28"/>
    <p:sldId xmlns:r="http://schemas.openxmlformats.org/officeDocument/2006/relationships" id="265" r:id="R1979a6994e614703"/>
    <p:sldId xmlns:r="http://schemas.openxmlformats.org/officeDocument/2006/relationships" id="266" r:id="R7718428a1f2240ad"/>
    <p:sldId xmlns:r="http://schemas.openxmlformats.org/officeDocument/2006/relationships" id="267" r:id="R86f0558f5a534139"/>
    <p:sldId xmlns:r="http://schemas.openxmlformats.org/officeDocument/2006/relationships" id="268" r:id="R48d7c9857e944f04"/>
    <p:sldId xmlns:r="http://schemas.openxmlformats.org/officeDocument/2006/relationships" id="269" r:id="Rda74d80fb63d4f6e"/>
    <p:sldId xmlns:r="http://schemas.openxmlformats.org/officeDocument/2006/relationships" id="270" r:id="R67ddee08a2444e1b"/>
    <p:sldId xmlns:r="http://schemas.openxmlformats.org/officeDocument/2006/relationships" id="271" r:id="R4fbf7d62bb494414"/>
    <p:sldId xmlns:r="http://schemas.openxmlformats.org/officeDocument/2006/relationships" id="272" r:id="R44721ffc518d441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38a04b6c85d4749" /><Relationship Type="http://schemas.openxmlformats.org/officeDocument/2006/relationships/slideMaster" Target="/ppt/slideMasters/slideMaster1.xml" Id="R7bd8ff4149474092" /><Relationship Type="http://schemas.openxmlformats.org/officeDocument/2006/relationships/notesMaster" Target="/ppt/notesMasters/notesMaster1.xml" Id="R7fe9d38b5dee4016" /><Relationship Type="http://schemas.openxmlformats.org/officeDocument/2006/relationships/presProps" Target="/ppt/presProps.xml" Id="R3ecc3997a67f410f" /><Relationship Type="http://schemas.openxmlformats.org/officeDocument/2006/relationships/viewProps" Target="/ppt/viewProps.xml" Id="R60820b2e73cd44d8" /><Relationship Type="http://schemas.openxmlformats.org/officeDocument/2006/relationships/tableStyles" Target="/ppt/tableStyles.xml" Id="Rf15ce9d2484646d5" /><Relationship Type="http://schemas.openxmlformats.org/officeDocument/2006/relationships/slide" Target="/ppt/slides/slide1.xml" Id="R81770dbe467b4532" /><Relationship Type="http://schemas.openxmlformats.org/officeDocument/2006/relationships/slide" Target="/ppt/slides/slide2.xml" Id="R0007dc22492f4fdc" /><Relationship Type="http://schemas.openxmlformats.org/officeDocument/2006/relationships/slide" Target="/ppt/slides/slide3.xml" Id="Rcf97ecc4d9d74b2f" /><Relationship Type="http://schemas.openxmlformats.org/officeDocument/2006/relationships/slide" Target="/ppt/slides/slide4.xml" Id="R21eabfd0fb884b92" /><Relationship Type="http://schemas.openxmlformats.org/officeDocument/2006/relationships/slide" Target="/ppt/slides/slide5.xml" Id="R5b504d8feb754a13" /><Relationship Type="http://schemas.openxmlformats.org/officeDocument/2006/relationships/slide" Target="/ppt/slides/slide6.xml" Id="R7173a4c7d54c4307" /><Relationship Type="http://schemas.openxmlformats.org/officeDocument/2006/relationships/slide" Target="/ppt/slides/slide7.xml" Id="Rcf58d48d8ccc4a3b" /><Relationship Type="http://schemas.openxmlformats.org/officeDocument/2006/relationships/slide" Target="/ppt/slides/slide8.xml" Id="R7e2f7e10ad56409c" /><Relationship Type="http://schemas.openxmlformats.org/officeDocument/2006/relationships/slide" Target="/ppt/slides/slide9.xml" Id="Ra245a80501264b28" /><Relationship Type="http://schemas.openxmlformats.org/officeDocument/2006/relationships/slide" Target="/ppt/slides/slide10.xml" Id="R1979a6994e614703" /><Relationship Type="http://schemas.openxmlformats.org/officeDocument/2006/relationships/slide" Target="/ppt/slides/slide11.xml" Id="R7718428a1f2240ad" /><Relationship Type="http://schemas.openxmlformats.org/officeDocument/2006/relationships/slide" Target="/ppt/slides/slide12.xml" Id="R86f0558f5a534139" /><Relationship Type="http://schemas.openxmlformats.org/officeDocument/2006/relationships/slide" Target="/ppt/slides/slide13.xml" Id="R48d7c9857e944f04" /><Relationship Type="http://schemas.openxmlformats.org/officeDocument/2006/relationships/slide" Target="/ppt/slides/slide14.xml" Id="Rda74d80fb63d4f6e" /><Relationship Type="http://schemas.openxmlformats.org/officeDocument/2006/relationships/slide" Target="/ppt/slides/slide15.xml" Id="R67ddee08a2444e1b" /><Relationship Type="http://schemas.openxmlformats.org/officeDocument/2006/relationships/slide" Target="/ppt/slides/slide16.xml" Id="R4fbf7d62bb494414" /><Relationship Type="http://schemas.openxmlformats.org/officeDocument/2006/relationships/slide" Target="/ppt/slides/slide17.xml" Id="R44721ffc518d441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04403864b347d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d2d92d745954b32" /><Relationship Type="http://schemas.openxmlformats.org/officeDocument/2006/relationships/notesMaster" Target="/ppt/notesMasters/notesMaster1.xml" Id="Rf777e2bc59f04fd6" /></Relationships>
</file>

<file path=ppt/notesSlides/_rels/notesSlide2.xml.rels>&#65279;<?xml version="1.0" encoding="utf-8"?><Relationships xmlns="http://schemas.openxmlformats.org/package/2006/relationships"><Relationship Type="http://schemas.openxmlformats.org/officeDocument/2006/relationships/slide" Target="/ppt/slides/slide2.xml" Id="R0c632e646ef444a4" /><Relationship Type="http://schemas.openxmlformats.org/officeDocument/2006/relationships/notesMaster" Target="/ppt/notesMasters/notesMaster1.xml" Id="R80d4c55623f54104" /></Relationships>
</file>

<file path=ppt/notesSlides/_rels/notesSlide3.xml.rels>&#65279;<?xml version="1.0" encoding="utf-8"?><Relationships xmlns="http://schemas.openxmlformats.org/package/2006/relationships"><Relationship Type="http://schemas.openxmlformats.org/officeDocument/2006/relationships/slide" Target="/ppt/slides/slide3.xml" Id="R9be39e74b4da44df" /><Relationship Type="http://schemas.openxmlformats.org/officeDocument/2006/relationships/notesMaster" Target="/ppt/notesMasters/notesMaster1.xml" Id="Rb72e81d001e54875" /></Relationships>
</file>

<file path=ppt/notesSlides/_rels/notesSlide4.xml.rels>&#65279;<?xml version="1.0" encoding="utf-8"?><Relationships xmlns="http://schemas.openxmlformats.org/package/2006/relationships"><Relationship Type="http://schemas.openxmlformats.org/officeDocument/2006/relationships/slide" Target="/ppt/slides/slide4.xml" Id="Rdbccfeb25eff4203" /><Relationship Type="http://schemas.openxmlformats.org/officeDocument/2006/relationships/notesMaster" Target="/ppt/notesMasters/notesMaster1.xml" Id="R493048772254475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517e567b2c34ce2" /><Relationship Type="http://schemas.openxmlformats.org/officeDocument/2006/relationships/notesMaster" Target="/ppt/notesMasters/notesMaster1.xml" Id="R5ad6eb6571ef47a0" /></Relationships>
</file>

<file path=ppt/notesSlides/_rels/notesSlide6.xml.rels>&#65279;<?xml version="1.0" encoding="utf-8"?><Relationships xmlns="http://schemas.openxmlformats.org/package/2006/relationships"><Relationship Type="http://schemas.openxmlformats.org/officeDocument/2006/relationships/slide" Target="/ppt/slides/slide6.xml" Id="R534f895de16b44ba" /><Relationship Type="http://schemas.openxmlformats.org/officeDocument/2006/relationships/notesMaster" Target="/ppt/notesMasters/notesMaster1.xml" Id="R94fe4f8c918d4a1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55abbbff5814504" /><Relationship Type="http://schemas.openxmlformats.org/officeDocument/2006/relationships/notesMaster" Target="/ppt/notesMasters/notesMaster1.xml" Id="R9711aee1de674ba6"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dfa151439a40f2" /><Relationship Type="http://schemas.openxmlformats.org/officeDocument/2006/relationships/notesMaster" Target="/ppt/notesMasters/notesMaster1.xml" Id="Rdde58935ecaf4e81" /></Relationships>
</file>

<file path=ppt/notesSlides/_rels/notesSlide9.xml.rels>&#65279;<?xml version="1.0" encoding="utf-8"?><Relationships xmlns="http://schemas.openxmlformats.org/package/2006/relationships"><Relationship Type="http://schemas.openxmlformats.org/officeDocument/2006/relationships/slide" Target="/ppt/slides/slide9.xml" Id="Rc618defb37674739" /><Relationship Type="http://schemas.openxmlformats.org/officeDocument/2006/relationships/notesMaster" Target="/ppt/notesMasters/notesMaster1.xml" Id="Rc8f4b10c190e4d1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da43e639c0b47d8" /><Relationship Type="http://schemas.openxmlformats.org/officeDocument/2006/relationships/notesMaster" Target="/ppt/notesMasters/notesMaster1.xml" Id="R3345ce7c118743e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cba29c3242a4222" /><Relationship Type="http://schemas.openxmlformats.org/officeDocument/2006/relationships/notesMaster" Target="/ppt/notesMasters/notesMaster1.xml" Id="R9ef26436ae4b4a1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6d0a4d015d7474f" /><Relationship Type="http://schemas.openxmlformats.org/officeDocument/2006/relationships/notesMaster" Target="/ppt/notesMasters/notesMaster1.xml" Id="Rba90bd42233b4bf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7c3789b03db48b1" /><Relationship Type="http://schemas.openxmlformats.org/officeDocument/2006/relationships/notesMaster" Target="/ppt/notesMasters/notesMaster1.xml" Id="R8f61b4dfd72a45e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32ce555bb5544d1" /><Relationship Type="http://schemas.openxmlformats.org/officeDocument/2006/relationships/notesMaster" Target="/ppt/notesMasters/notesMaster1.xml" Id="Rbf55aa37349e475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53a8aeb155c4d33" /><Relationship Type="http://schemas.openxmlformats.org/officeDocument/2006/relationships/notesMaster" Target="/ppt/notesMasters/notesMaster1.xml" Id="R52d9a583f2d64d7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3283cf1a7af4532" /><Relationship Type="http://schemas.openxmlformats.org/officeDocument/2006/relationships/notesMaster" Target="/ppt/notesMasters/notesMaster1.xml" Id="Rf19c40581faf4be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7c5732b04eb44c6" /><Relationship Type="http://schemas.openxmlformats.org/officeDocument/2006/relationships/notesMaster" Target="/ppt/notesMasters/notesMaster1.xml" Id="Ra043c8af4650404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beginner introduction built around familiar Excel tasks. Use the historical practice data supplied with the webinar. No programming is required. Allow 60 minutes including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0-7 minutes: orientation. 7-17: preparation and formatting. 17-31: formulas and data management. 31-49: conditional formatting, sales reporting and a short forecast. 49-55: newer capabilities. 55-60: questions. The challenge files are follow-up practice. Demonstrate selected steps rather than waiting for everyone to complete every exercise.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Copilot pane in the Excel version used for the webinar. Show the available mode selector. Chat keeps the response in the conversation, Plan outlines the task, and Allow editing can change cells and workbook objects. Labels and availability can vary by version, subscription and organization. Older material may call the editing experience Agent Mode. Use a working copy and demonstrate Stop and Undo. If a mode is unavailable, explain it using this slide and use the controls present in the account.</a:t>
            </a:r>
          </a:p>
          <a:p xmlns:a="http://schemas.openxmlformats.org/drawingml/2006/main">
            <a:r>
              <a:t>Source checked September 25, 2026: https://support.microsoft.com/en-us/excel/copilot/get-started-with-copilot-in-excel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7-17 minutes. Open a working copy of copilot-data-manipulation.xlsx. Keep the original starter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five borough rows. Prompt: Make this worksheet easier to read. Format population with thousands separators and no decimals, size with one decimal, and adjust column widths. Preserve the underlying values. Follow up: Format A1:C6 as an Excel table and add a total row that sums population only. Check that five boroughs remain and population totals 8,738,645. Explain that formatting changes display, not values. Treat size as a source field with an unspecified unit; do not make a density calculation from it. Tables remain a useful convention. Current supported desktop versions can work with locally saved workbooks, and AutoSave is not a universal requirement. Internet access is still needed.</a:t>
            </a:r>
          </a:p>
          <a:p xmlns:a="http://schemas.openxmlformats.org/drawingml/2006/main">
            <a:r>
              <a:t>Sources: https://support.microsoft.com/en-us/excel/copilot/copilot-in-excel-tips</a:t>
            </a:r>
          </a:p>
          <a:p xmlns:a="http://schemas.openxmlformats.org/drawingml/2006/main">
            <a:r>
              <a:t>https://techcommunity.microsoft.com/blog/microsoft365insiderblog/agent-mode-in-excel-now-works-with-your-local-files/4497675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file in 01_data_manipulation/challenge. It already contains an Excel table. Ask Copilot to trim the category text while preserving all 16 records and the other values. Then format the date, price and sales fields and add the sales total row. Expected sales total: $11,300.74. Clean categories: Electronics and Home Goods. Explain that trimming changes text values while number formatting changes their display. No font-change exercise is needed.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Example: On the products sheet, add Size (cups) using an Excel formula. Treat Size as US fluid ounces and use 8 fluid ounces per cup. Keep the original columns. Ask for one manageable result, inspect it, and refine. For larger tasks, ask for a plan first. These are example prompts to adapt, not guaranteed scripts.</a:t>
            </a:r>
          </a:p>
          <a:p xmlns:a="http://schemas.openxmlformats.org/drawingml/2006/main">
            <a:r>
              <a:t>Source: https://support.microsoft.com/en-us/excel/copilot/copilot-in-excel-tips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17-31 minutes. Open copilot-data-management.xlsx and select products. The penguins sheet is optional follow-up practice, not part of the main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Create Status (proper) with PROPER and Size (cups) as Size divided by 8. State that the Size field represents US fluid ounces for this exercise. Check 20 fluid ounces = 2.5 cups and 32 = 4 cups. Ask Copilot to explain one formula. Temporarily change a 20 to 24, confirm 3 cups, then restore 20. Ask how many records are active or discontinued: 12 and 4, total 16. Filter Status to ACTIVE and sort Price descending. Clear the filter before saving the complete example outcome. If Copilot produces fixed values, ask for Excel formulas so the results 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02_data_management/challenge/copilot-data-management-challenge.xlsx. Trim category names first if necessary. Keep price and quantity visible for the formula check. Expected total_sales: $11,300.74. Category record counts: Electronics 9, Home Goods 7. Product IDs are unique in this file, so record and product counts agree. PixelFusion X should lead at $2,699.70 = 30 * $89.99. Only hide supporting columns after inspecting the calculation, if desired.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Copilot can misunderstand a request or produce a plausible-looking error. A fluent explanation does not prove the answer. Use representative rows and independent totals. For charts, inspect the source and whether the result is a native editable Excel chart or a static image. Review the workbook itself, not only the chat response. A PivotTable may require Refresh after source changes.</a:t>
            </a:r>
          </a:p>
          <a:p xmlns:a="http://schemas.openxmlformats.org/drawingml/2006/main">
            <a:r>
              <a:t>Sources: https://support.microsoft.com/en-us/excel/copilot/frequently-asked-questions-about-copilot-in-excel</a:t>
            </a:r>
          </a:p>
          <a:p xmlns:a="http://schemas.openxmlformats.org/drawingml/2006/main">
            <a:r>
              <a:t>https://support.microsoft.com/en-us/excel/get-started/create-a-pivottable-to-analyze-worksheet-data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31-49 minutes. Open copilot-analysis-visualization.xlsx. Keep the cities example to about two minutes, then spend most of this section on the sales sheet and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Cities: add data bars to population or highlight is_capital = yes. Sales: plan a summary of total_sales by year and month and by product_category. Then create a Sales Summary sheet and a native editable Excel line chart. Preserve the original sales sheet. Refine by sorting categories descending and adding each category's percentage of total sales. Check 5,000 records, 24 monthly totals from January 2015 through December 2016, and $533,479 overall. Furnishings leads at $226,865. Do not combine January 2015 and January 2016 into one January bucket. Check source-linked formulas or PivotTable fields.</a:t>
            </a:r>
          </a:p>
          <a:p xmlns:a="http://schemas.openxmlformats.org/drawingml/2006/main">
            <a:r>
              <a:t>Source: https://support.microsoft.com/en-us/excel/copilot/visualize-your-data-with-copilot-in-excel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an ordinary Excel formula and the 24 monthly totals. Add a month index 1-24. Estimate index 25 using FORECAST.LINEAR with the monthly totals and their indices. This represents January 2017 relative to this historical dataset, not a current business forecast. Label it Linear forecast. A straight-line projection does not model seasonality or explain business causes. Inspect the formula and explain its inputs. If time or access prevents the live step, show the formula recipe in the presenter notes. No Python or advanced-analysis mode is part of this session.</a:t>
            </a:r>
          </a:p>
          <a:p xmlns:a="http://schemas.openxmlformats.org/drawingml/2006/main">
            <a:r>
              <a:t>Source: https://support.microsoft.com/en-us/excel/functions/forecast-and-forecast-linear-functions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03_analyzing_visualizing_data/challenge/copilot-analysis-visualization-challenge.xlsx. Data contain 36 records across 2023. Sum revenue within each month, even when the dates within the month differ. Total revenue is $2,001,000. Home Appliances leads at $900,000, followed by Electronics $777,000 and Clothing $324,000. return_percentage stores whole percentage points: 2 means 2%, not 200%. For the scatter chart, use numeric avg_review on the x-axis and return_percentage on the y-axis, labeled Return rate (percentage points). A relationship in the plot does not establish a cause.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49-55 minutes. Keep this a brief tour. Use a prepared screenshot or verbal example if a feature is absent. Web example: create a separate list of US state names and two-letter postal abbreviations from USPS, with a source link, and verify sample rows. Rules example: a visible .Rules sheet with one instruction per cell in column A, including preserving source data and using two decimal places for currency. Rules guide Copilot and are not enforced permissions. Explain that personalization follows the user's account while workbook rules travel with the file. Skills can package recurring procedures; do not teach skill authoring today. Leave model selection at the tested default. Work sources and some features depend on licensing and organization settings. Do not use private work files in the public demo.</a:t>
            </a:r>
          </a:p>
          <a:p xmlns:a="http://schemas.openxmlformats.org/drawingml/2006/main">
            <a:r>
              <a:t>Sources: https://support.microsoft.com/en-au/excel/copilot/copilot-in-excel-data-sources</a:t>
            </a:r>
          </a:p>
          <a:p xmlns:a="http://schemas.openxmlformats.org/drawingml/2006/main">
            <a:r>
              <a:t>https://support.microsoft.com/en-us/excel/copilot/copilot-in-excel-rules</a:t>
            </a:r>
          </a:p>
          <a:p xmlns:a="http://schemas.openxmlformats.org/drawingml/2006/main">
            <a:r>
              <a:t>https://support.microsoft.com/en-us/excel/copilot/copilot-in-excel-personalization</a:t>
            </a:r>
          </a:p>
          <a:p xmlns:a="http://schemas.openxmlformats.org/drawingml/2006/main">
            <a:r>
              <a:t>https://support.microsoft.com/en-us/Excel/copilot/copilot-in-excel-skills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55-60 minutes. Revisit the practical workflow: specify the task, inspect the workbook result, and refine the request. Point participants to the three challenge workbooks and the unbranded FAQ and prompt handout. Questions about organization-specific access should go to their Microsoft 365 administrator. Exact outputs may differ even when the checks agree.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254cff280749d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4a5c5c181ed4dd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bdae0ebf3c34f6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245af994ef8490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fe13541e9c94eb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d657095603c4b0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122473355e242e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94a91a438d142a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28ddb767348848e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dff34d9c41bf446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b99bebd48c3048c4"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089EFE7-842B-995E-3210-697BFFC0666E}"/>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8C8F4FC9-0A69-7F82-FCFD-E63BF261D64B}"/>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D7A58EFC-FC8F-25DE-9504-18FBE53580E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48F655A-7B6B-4AD7-A4D7-5A9E43C3C281}" type="datetimeFigureOut">
              <a:t>7/11/2024</a:t>
            </a:fld>
            <a:endParaRPr/>
          </a:p>
        </p:txBody>
      </p:sp>
      <p:sp>
        <p:nvSpPr>
          <p:cNvPr id="5" name="Footer Placeholder 4">
            <a:extLst xmlns:a="http://schemas.openxmlformats.org/drawingml/2006/main">
              <a:ext uri="{FF2B5EF4-FFF2-40B4-BE49-F238E27FC236}">
                <a16:creationId xmlns:a16="http://schemas.microsoft.com/office/drawing/2014/main" id="{0D4770CF-1EA0-A052-48EB-91E0F2845A7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9B56722-B36B-EC6A-7758-5145F2A4108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B0718B6-6838-4B19-8BA4-2B8F7E272829}"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20F5A4E-8801-5F41-23A4-AE6D03ED6F3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892DE53-9B7B-27D1-812B-F22D5B9323E5}"/>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2FFB4ED8-A76A-9514-DD86-1746A40EA83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48F655A-7B6B-4AD7-A4D7-5A9E43C3C281}" type="datetimeFigureOut">
              <a:t>7/11/2024</a:t>
            </a:fld>
            <a:endParaRPr/>
          </a:p>
        </p:txBody>
      </p:sp>
      <p:sp>
        <p:nvSpPr>
          <p:cNvPr id="5" name="Footer Placeholder 4">
            <a:extLst xmlns:a="http://schemas.openxmlformats.org/drawingml/2006/main">
              <a:ext uri="{FF2B5EF4-FFF2-40B4-BE49-F238E27FC236}">
                <a16:creationId xmlns:a16="http://schemas.microsoft.com/office/drawing/2014/main" id="{96959E3A-AE4F-DAA9-B98B-3AF752FCA4E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886428E-4407-8AA8-0234-F806DC2EABB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B0718B6-6838-4B19-8BA4-2B8F7E272829}"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8BAB269-D05A-64DA-E48F-43E63B46165F}"/>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F9FF52DA-CFB2-25C8-5549-297E14CF4243}"/>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745DE672-4A2A-DB1B-D66F-F74108B0FC6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48F655A-7B6B-4AD7-A4D7-5A9E43C3C281}" type="datetimeFigureOut">
              <a:t>7/11/2024</a:t>
            </a:fld>
            <a:endParaRPr/>
          </a:p>
        </p:txBody>
      </p:sp>
      <p:sp>
        <p:nvSpPr>
          <p:cNvPr id="5" name="Footer Placeholder 4">
            <a:extLst xmlns:a="http://schemas.openxmlformats.org/drawingml/2006/main">
              <a:ext uri="{FF2B5EF4-FFF2-40B4-BE49-F238E27FC236}">
                <a16:creationId xmlns:a16="http://schemas.microsoft.com/office/drawing/2014/main" id="{E427E9FC-E55C-6C0A-FD07-5F12AA6EA07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8B23E03-9E94-ABA5-C979-C9CB8FB4B33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B0718B6-6838-4B19-8BA4-2B8F7E272829}"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B1AF623-27F0-9764-5AB8-07E73496A9A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E062E0FE-19F8-6C17-3393-1941530E5CCC}"/>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20FDF68E-576D-D9AC-7359-1D03562DD8C5}"/>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84E44C94-305F-D7BA-F419-1E01EC9DFBA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48F655A-7B6B-4AD7-A4D7-5A9E43C3C281}" type="datetimeFigureOut">
              <a:t>7/11/2024</a:t>
            </a:fld>
            <a:endParaRPr/>
          </a:p>
        </p:txBody>
      </p:sp>
      <p:sp>
        <p:nvSpPr>
          <p:cNvPr id="6" name="Footer Placeholder 5">
            <a:extLst xmlns:a="http://schemas.openxmlformats.org/drawingml/2006/main">
              <a:ext uri="{FF2B5EF4-FFF2-40B4-BE49-F238E27FC236}">
                <a16:creationId xmlns:a16="http://schemas.microsoft.com/office/drawing/2014/main" id="{C69C22E8-8040-FCFC-98C0-9058AD02939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F07104A-C5C0-C8CA-B5DD-563976115D3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B0718B6-6838-4B19-8BA4-2B8F7E272829}"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352F6C8-E859-498A-DCFB-834B6EF3F11E}"/>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E73CCC7B-FDEA-5517-34C7-C8CD7575ECFD}"/>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6701A2A7-5A8A-D903-2533-251FA81528F4}"/>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0D4EB4CE-DE2D-9178-65D0-7F06101C2150}"/>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6C80054C-D51C-C033-2B6D-B92C3E76CB56}"/>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F4089606-BC8A-A120-1F7B-621FC42FD91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48F655A-7B6B-4AD7-A4D7-5A9E43C3C281}" type="datetimeFigureOut">
              <a:t>7/11/2024</a:t>
            </a:fld>
            <a:endParaRPr/>
          </a:p>
        </p:txBody>
      </p:sp>
      <p:sp>
        <p:nvSpPr>
          <p:cNvPr id="8" name="Footer Placeholder 7">
            <a:extLst xmlns:a="http://schemas.openxmlformats.org/drawingml/2006/main">
              <a:ext uri="{FF2B5EF4-FFF2-40B4-BE49-F238E27FC236}">
                <a16:creationId xmlns:a16="http://schemas.microsoft.com/office/drawing/2014/main" id="{0FC39436-804C-A825-10B4-09963B2C485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92EC2708-11BC-9A80-9045-C9086C8A714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B0718B6-6838-4B19-8BA4-2B8F7E272829}"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D006232-E8C3-CB42-554F-7AF468619E5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995DC426-F8D6-A06E-AEB4-CA43B3DDF7D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48F655A-7B6B-4AD7-A4D7-5A9E43C3C281}" type="datetimeFigureOut">
              <a:t>7/11/2024</a:t>
            </a:fld>
            <a:endParaRPr/>
          </a:p>
        </p:txBody>
      </p:sp>
      <p:sp>
        <p:nvSpPr>
          <p:cNvPr id="4" name="Footer Placeholder 3">
            <a:extLst xmlns:a="http://schemas.openxmlformats.org/drawingml/2006/main">
              <a:ext uri="{FF2B5EF4-FFF2-40B4-BE49-F238E27FC236}">
                <a16:creationId xmlns:a16="http://schemas.microsoft.com/office/drawing/2014/main" id="{F7793B6D-DDF7-7EEC-7446-BD4B1BF426C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4929D2A4-7F8F-61FA-94AE-CE237D4EB92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B0718B6-6838-4B19-8BA4-2B8F7E272829}"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11361F50-0BBA-FA3C-5DC2-539EFBAE82B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48F655A-7B6B-4AD7-A4D7-5A9E43C3C281}" type="datetimeFigureOut">
              <a:t>7/11/2024</a:t>
            </a:fld>
            <a:endParaRPr/>
          </a:p>
        </p:txBody>
      </p:sp>
      <p:sp>
        <p:nvSpPr>
          <p:cNvPr id="3" name="Footer Placeholder 2">
            <a:extLst xmlns:a="http://schemas.openxmlformats.org/drawingml/2006/main">
              <a:ext uri="{FF2B5EF4-FFF2-40B4-BE49-F238E27FC236}">
                <a16:creationId xmlns:a16="http://schemas.microsoft.com/office/drawing/2014/main" id="{13F54A40-899E-7B72-65CE-733E89AA221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BC1CA2B5-D5FA-BBBB-6903-EC96B68AE2A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B0718B6-6838-4B19-8BA4-2B8F7E272829}"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77F43F6-12AA-C0EF-BE0D-FEDDC247E352}"/>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C18FC74C-781F-E39D-7E2D-C45926A033B3}"/>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EBF26054-0A2F-B3E0-1FA9-55CB27FB1714}"/>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AA381AF-39F4-E903-4343-02E26B6EC2A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48F655A-7B6B-4AD7-A4D7-5A9E43C3C281}" type="datetimeFigureOut">
              <a:t>7/11/2024</a:t>
            </a:fld>
            <a:endParaRPr/>
          </a:p>
        </p:txBody>
      </p:sp>
      <p:sp>
        <p:nvSpPr>
          <p:cNvPr id="6" name="Footer Placeholder 5">
            <a:extLst xmlns:a="http://schemas.openxmlformats.org/drawingml/2006/main">
              <a:ext uri="{FF2B5EF4-FFF2-40B4-BE49-F238E27FC236}">
                <a16:creationId xmlns:a16="http://schemas.microsoft.com/office/drawing/2014/main" id="{D43DF9E2-8A54-B22D-4554-44493ECF51F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B4BE93BC-0749-45FB-9295-E4C0E9F383C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B0718B6-6838-4B19-8BA4-2B8F7E272829}"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52FF0E-7584-BF2F-6072-EEDBE9D33BF4}"/>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749BE40D-B76B-857C-8A7B-00F20FAAF4DB}"/>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FBF987F8-48C3-E45D-4092-9205F452CDAF}"/>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BB95578B-7610-609F-6435-EFCD53B3748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48F655A-7B6B-4AD7-A4D7-5A9E43C3C281}" type="datetimeFigureOut">
              <a:t>7/11/2024</a:t>
            </a:fld>
            <a:endParaRPr/>
          </a:p>
        </p:txBody>
      </p:sp>
      <p:sp>
        <p:nvSpPr>
          <p:cNvPr id="6" name="Footer Placeholder 5">
            <a:extLst xmlns:a="http://schemas.openxmlformats.org/drawingml/2006/main">
              <a:ext uri="{FF2B5EF4-FFF2-40B4-BE49-F238E27FC236}">
                <a16:creationId xmlns:a16="http://schemas.microsoft.com/office/drawing/2014/main" id="{F6F71DCA-F05D-C1E0-96DA-7554B2216F4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4EFCB1C-76CF-56F8-2D23-BB65C5ACA55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B0718B6-6838-4B19-8BA4-2B8F7E272829}"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371D11E-BF62-5DE9-7588-D28254D0015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8F17C340-DCED-2417-5AE3-D33D23F133CE}"/>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BE24D641-B2FD-A7C0-4C00-AE0D5EEDCAA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48F655A-7B6B-4AD7-A4D7-5A9E43C3C281}" type="datetimeFigureOut">
              <a:t>7/11/2024</a:t>
            </a:fld>
            <a:endParaRPr/>
          </a:p>
        </p:txBody>
      </p:sp>
      <p:sp>
        <p:nvSpPr>
          <p:cNvPr id="5" name="Footer Placeholder 4">
            <a:extLst xmlns:a="http://schemas.openxmlformats.org/drawingml/2006/main">
              <a:ext uri="{FF2B5EF4-FFF2-40B4-BE49-F238E27FC236}">
                <a16:creationId xmlns:a16="http://schemas.microsoft.com/office/drawing/2014/main" id="{3CE69129-EA48-F4EA-DF94-E7C6871F4A6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2D880C0-06BC-B28E-AB1E-356E98F03EA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B0718B6-6838-4B19-8BA4-2B8F7E272829}"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8F8F9F2C-2AEA-0EFB-2189-2D274B90E88C}"/>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8BBBEC39-2DD3-0F0D-A117-D41519B971ED}"/>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93A5607-AE7D-80CB-844D-577D01C7E26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48F655A-7B6B-4AD7-A4D7-5A9E43C3C281}" type="datetimeFigureOut">
              <a:t>7/11/2024</a:t>
            </a:fld>
            <a:endParaRPr/>
          </a:p>
        </p:txBody>
      </p:sp>
      <p:sp>
        <p:nvSpPr>
          <p:cNvPr id="5" name="Footer Placeholder 4">
            <a:extLst xmlns:a="http://schemas.openxmlformats.org/drawingml/2006/main">
              <a:ext uri="{FF2B5EF4-FFF2-40B4-BE49-F238E27FC236}">
                <a16:creationId xmlns:a16="http://schemas.microsoft.com/office/drawing/2014/main" id="{41B3EFB2-518F-84C8-4094-3E6FFD91854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2E75E83-E714-5246-A212-000D1992352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B0718B6-6838-4B19-8BA4-2B8F7E272829}"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d51243f03094266" /><Relationship Type="http://schemas.openxmlformats.org/officeDocument/2006/relationships/slideLayout" Target="/ppt/slideLayouts/slideLayout1.xml" Id="Rb0af4c5b29eb40d4" /><Relationship Type="http://schemas.openxmlformats.org/officeDocument/2006/relationships/slideLayout" Target="/ppt/slideLayouts/slideLayout2.xml" Id="R154670eeebce4ae8" /><Relationship Type="http://schemas.openxmlformats.org/officeDocument/2006/relationships/slideLayout" Target="/ppt/slideLayouts/slideLayout3.xml" Id="R7046ba43a40940ef" /><Relationship Type="http://schemas.openxmlformats.org/officeDocument/2006/relationships/slideLayout" Target="/ppt/slideLayouts/slideLayout4.xml" Id="R0081cfd90cd545c1" /><Relationship Type="http://schemas.openxmlformats.org/officeDocument/2006/relationships/slideLayout" Target="/ppt/slideLayouts/slideLayout5.xml" Id="Ra37d0572094f4c92" /><Relationship Type="http://schemas.openxmlformats.org/officeDocument/2006/relationships/slideLayout" Target="/ppt/slideLayouts/slideLayout6.xml" Id="Raaa7433f0dc041e1" /><Relationship Type="http://schemas.openxmlformats.org/officeDocument/2006/relationships/slideLayout" Target="/ppt/slideLayouts/slideLayout7.xml" Id="R71f456ed359a4be0" /><Relationship Type="http://schemas.openxmlformats.org/officeDocument/2006/relationships/slideLayout" Target="/ppt/slideLayouts/slideLayout8.xml" Id="R9510652a1cad4388" /><Relationship Type="http://schemas.openxmlformats.org/officeDocument/2006/relationships/slideLayout" Target="/ppt/slideLayouts/slideLayout9.xml" Id="Rdb2cc67925be406f" /><Relationship Type="http://schemas.openxmlformats.org/officeDocument/2006/relationships/slideLayout" Target="/ppt/slideLayouts/slideLayout10.xml" Id="R6219137a094549b0" /><Relationship Type="http://schemas.openxmlformats.org/officeDocument/2006/relationships/slideLayout" Target="/ppt/slideLayouts/slideLayout11.xml" Id="Ra51996c814aa4ac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0D5358B1-7CC8-3C04-6CCA-AEB960A10663}"/>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B0255EEA-CB8D-F9EE-8BD2-EB57046F1CFB}"/>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41F0866-C7B4-89D5-92CF-F3D0D22BBB39}"/>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82000"/>
                  </a:schemeClr>
                </a:solidFill>
              </a:defRPr>
            </a:lvl1pPr>
          </a:lstStyle>
          <a:p xmlns:a="http://schemas.openxmlformats.org/drawingml/2006/main">
            <a:fld id="{748F655A-7B6B-4AD7-A4D7-5A9E43C3C281}" type="datetimeFigureOut">
              <a:t>7/11/2024</a:t>
            </a:fld>
            <a:endParaRPr/>
          </a:p>
        </p:txBody>
      </p:sp>
      <p:sp>
        <p:nvSpPr>
          <p:cNvPr id="5" name="Footer Placeholder 4">
            <a:extLst xmlns:a="http://schemas.openxmlformats.org/drawingml/2006/main">
              <a:ext uri="{FF2B5EF4-FFF2-40B4-BE49-F238E27FC236}">
                <a16:creationId xmlns:a16="http://schemas.microsoft.com/office/drawing/2014/main" id="{40DC054C-AC1F-D3B3-99F0-000F810BB8F2}"/>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82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B3505E7-BCF1-CDD9-EE6F-1F3487BBD1D9}"/>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a:fld id="{6B0718B6-6838-4B19-8BA4-2B8F7E272829}"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0af4c5b29eb40d4"/>
    <p:sldLayoutId xmlns:r="http://schemas.openxmlformats.org/officeDocument/2006/relationships" id="2147483650" r:id="R154670eeebce4ae8"/>
    <p:sldLayoutId xmlns:r="http://schemas.openxmlformats.org/officeDocument/2006/relationships" id="2147483651" r:id="R7046ba43a40940ef"/>
    <p:sldLayoutId xmlns:r="http://schemas.openxmlformats.org/officeDocument/2006/relationships" id="2147483652" r:id="R0081cfd90cd545c1"/>
    <p:sldLayoutId xmlns:r="http://schemas.openxmlformats.org/officeDocument/2006/relationships" id="2147483653" r:id="Ra37d0572094f4c92"/>
    <p:sldLayoutId xmlns:r="http://schemas.openxmlformats.org/officeDocument/2006/relationships" id="2147483654" r:id="Raaa7433f0dc041e1"/>
    <p:sldLayoutId xmlns:r="http://schemas.openxmlformats.org/officeDocument/2006/relationships" id="2147483655" r:id="R71f456ed359a4be0"/>
    <p:sldLayoutId xmlns:r="http://schemas.openxmlformats.org/officeDocument/2006/relationships" id="2147483656" r:id="R9510652a1cad4388"/>
    <p:sldLayoutId xmlns:r="http://schemas.openxmlformats.org/officeDocument/2006/relationships" id="2147483657" r:id="Rdb2cc67925be406f"/>
    <p:sldLayoutId xmlns:r="http://schemas.openxmlformats.org/officeDocument/2006/relationships" id="2147483658" r:id="R6219137a094549b0"/>
    <p:sldLayoutId xmlns:r="http://schemas.openxmlformats.org/officeDocument/2006/relationships" id="2147483659" r:id="Ra51996c814aa4acb"/>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7238ede058645da" /><Relationship Type="http://schemas.openxmlformats.org/officeDocument/2006/relationships/notesSlide" Target="/ppt/notesSlides/notesSlide1.xml" Id="R9ea578411372451c"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ba4110d969244e7a" /><Relationship Type="http://schemas.openxmlformats.org/officeDocument/2006/relationships/notesSlide" Target="/ppt/notesSlides/notesSlide2.xml" Id="Rbd7868c2ed7647fc"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c3ebef4b9c3b406f" /><Relationship Type="http://schemas.openxmlformats.org/officeDocument/2006/relationships/notesSlide" Target="/ppt/notesSlides/notesSlide3.xml" Id="Rd6b08ceafead4b5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47948d0ba824d9b" /><Relationship Type="http://schemas.openxmlformats.org/officeDocument/2006/relationships/notesSlide" Target="/ppt/notesSlides/notesSlide4.xml" Id="R7d70496da174454a"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7388ff33b8cd4e1e" /><Relationship Type="http://schemas.openxmlformats.org/officeDocument/2006/relationships/notesSlide" Target="/ppt/notesSlides/notesSlide5.xml" Id="R1988305afeef4a3f"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f91acca3a1324aa9" /><Relationship Type="http://schemas.openxmlformats.org/officeDocument/2006/relationships/notesSlide" Target="/ppt/notesSlides/notesSlide6.xml" Id="R72e9e82efe9046e3"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d4b674d186af4cd1" /><Relationship Type="http://schemas.openxmlformats.org/officeDocument/2006/relationships/notesSlide" Target="/ppt/notesSlides/notesSlide7.xml" Id="R2c4ec3642ac642f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04800721897497d" /><Relationship Type="http://schemas.openxmlformats.org/officeDocument/2006/relationships/notesSlide" Target="/ppt/notesSlides/notesSlide8.xml" Id="Rf8d064c801be450f"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7a5173dad79545ad" /><Relationship Type="http://schemas.openxmlformats.org/officeDocument/2006/relationships/notesSlide" Target="/ppt/notesSlides/notesSlide9.xml" Id="Rb32844e993084f1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8cfff83921b346c7" /><Relationship Type="http://schemas.openxmlformats.org/officeDocument/2006/relationships/notesSlide" Target="/ppt/notesSlides/notesSlide10.xml" Id="R699bb4781d2543d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c4316891b806419e" /><Relationship Type="http://schemas.openxmlformats.org/officeDocument/2006/relationships/notesSlide" Target="/ppt/notesSlides/notesSlide11.xml" Id="R91d1b55117c44b9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cb6e66174fa4e9b" /><Relationship Type="http://schemas.openxmlformats.org/officeDocument/2006/relationships/notesSlide" Target="/ppt/notesSlides/notesSlide12.xml" Id="R2b43af441fb247a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337f93ca9aec44d5" /><Relationship Type="http://schemas.openxmlformats.org/officeDocument/2006/relationships/notesSlide" Target="/ppt/notesSlides/notesSlide13.xml" Id="R1434f5426d3a490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97eb53dd91c64332" /><Relationship Type="http://schemas.openxmlformats.org/officeDocument/2006/relationships/notesSlide" Target="/ppt/notesSlides/notesSlide14.xml" Id="R0aee125ca2b748d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a1046fc36a544b15" /><Relationship Type="http://schemas.openxmlformats.org/officeDocument/2006/relationships/notesSlide" Target="/ppt/notesSlides/notesSlide15.xml" Id="R163eaa773d13492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0f89d9e87a244382" /><Relationship Type="http://schemas.openxmlformats.org/officeDocument/2006/relationships/notesSlide" Target="/ppt/notesSlides/notesSlide16.xml" Id="Rab42aec6d2c1418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59502047fd874411" /><Relationship Type="http://schemas.openxmlformats.org/officeDocument/2006/relationships/notesSlide" Target="/ppt/notesSlides/notesSlide17.xml" Id="Rfd97c988865a470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1B47989-C836-CC0A-608E-2427CBD181BE}"/>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r>
              <a:t>Intro to Copilot in Excel</a:t>
            </a:r>
            <a:endParaRPr/>
          </a:p>
        </p:txBody>
      </p:sp>
      <p:sp>
        <p:nvSpPr>
          <p:cNvPr id="3" name="Subtitle 2">
            <a:extLst xmlns:a="http://schemas.openxmlformats.org/drawingml/2006/main">
              <a:ext uri="{FF2B5EF4-FFF2-40B4-BE49-F238E27FC236}">
                <a16:creationId xmlns:a16="http://schemas.microsoft.com/office/drawing/2014/main" id="{564D5E3A-3839-5D49-C48A-F9747014E442}"/>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325629531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65A297D-E893-1286-C61B-5020649CC4E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Objectives for today</a:t>
            </a:r>
          </a:p>
        </p:txBody>
      </p:sp>
      <p:sp>
        <p:nvSpPr>
          <p:cNvPr id="3" name="Content Placeholder 2">
            <a:extLst xmlns:a="http://schemas.openxmlformats.org/drawingml/2006/main">
              <a:ext uri="{FF2B5EF4-FFF2-40B4-BE49-F238E27FC236}">
                <a16:creationId xmlns:a16="http://schemas.microsoft.com/office/drawing/2014/main" id="{9C97E8A1-2F49-CB7E-062E-D99507FD230D}"/>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Prepare and format data</a:t>
            </a:r>
          </a:p>
          <a:p xmlns:a="http://schemas.openxmlformats.org/drawingml/2006/main">
            <a:r>
              <a:t>Create and explain formulas</a:t>
            </a:r>
          </a:p>
          <a:p xmlns:a="http://schemas.openxmlformats.org/drawingml/2006/main">
            <a:r>
              <a:t>Build and refine a sales report</a:t>
            </a:r>
          </a:p>
          <a:p xmlns:a="http://schemas.openxmlformats.org/drawingml/2006/main">
            <a:r>
              <a:t>Check results and explore newer capabilities</a:t>
            </a:r>
          </a:p>
        </p:txBody>
      </p:sp>
    </p:spTree>
    <p:extLst>
      <p:ext uri="{BB962C8B-B14F-4D97-AF65-F5344CB8AC3E}">
        <p14:creationId xmlns:p14="http://schemas.microsoft.com/office/powerpoint/2010/main" val="218772553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65A297D-E893-1286-C61B-5020649CC4E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Chat, plan, and edit</a:t>
            </a:r>
          </a:p>
        </p:txBody>
      </p:sp>
      <p:sp>
        <p:nvSpPr>
          <p:cNvPr id="3" name="Content Placeholder 2">
            <a:extLst xmlns:a="http://schemas.openxmlformats.org/drawingml/2006/main">
              <a:ext uri="{FF2B5EF4-FFF2-40B4-BE49-F238E27FC236}">
                <a16:creationId xmlns:a16="http://schemas.microsoft.com/office/drawing/2014/main" id="{9C97E8A1-2F49-CB7E-062E-D99507FD230D}"/>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Chat only: ask questions about the workbook</a:t>
            </a:r>
          </a:p>
          <a:p xmlns:a="http://schemas.openxmlformats.org/drawingml/2006/main">
            <a:r>
              <a:t>Plan: review an approach before changes</a:t>
            </a:r>
          </a:p>
          <a:p xmlns:a="http://schemas.openxmlformats.org/drawingml/2006/main">
            <a:r>
              <a:t>Allow editing: make changes in Excel</a:t>
            </a:r>
          </a:p>
          <a:p xmlns:a="http://schemas.openxmlformats.org/drawingml/2006/main">
            <a:r>
              <a:t>Check the selected mode before each request</a:t>
            </a:r>
          </a:p>
        </p:txBody>
      </p:sp>
    </p:spTree>
    <p:extLst>
      <p:ext uri="{BB962C8B-B14F-4D97-AF65-F5344CB8AC3E}">
        <p14:creationId xmlns:p14="http://schemas.microsoft.com/office/powerpoint/2010/main" val="218772553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1B47989-C836-CC0A-608E-2427CBD181BE}"/>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r>
              <a:t>1. Data manipulation with Copilot</a:t>
            </a:r>
          </a:p>
        </p:txBody>
      </p:sp>
      <p:sp>
        <p:nvSpPr>
          <p:cNvPr id="3" name="Subtitle 2">
            <a:extLst xmlns:a="http://schemas.openxmlformats.org/drawingml/2006/main">
              <a:ext uri="{FF2B5EF4-FFF2-40B4-BE49-F238E27FC236}">
                <a16:creationId xmlns:a16="http://schemas.microsoft.com/office/drawing/2014/main" id="{564D5E3A-3839-5D49-C48A-F9747014E442}"/>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256991318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65A297D-E893-1286-C61B-5020649CC4E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Data manipulation with Copilot</a:t>
            </a:r>
          </a:p>
        </p:txBody>
      </p:sp>
      <p:sp>
        <p:nvSpPr>
          <p:cNvPr id="3" name="Content Placeholder 2">
            <a:extLst xmlns:a="http://schemas.openxmlformats.org/drawingml/2006/main">
              <a:ext uri="{FF2B5EF4-FFF2-40B4-BE49-F238E27FC236}">
                <a16:creationId xmlns:a16="http://schemas.microsoft.com/office/drawing/2014/main" id="{9C97E8A1-2F49-CB7E-062E-D99507FD230D}"/>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Clear headers and consistent data types</a:t>
            </a:r>
          </a:p>
          <a:p xmlns:a="http://schemas.openxmlformats.org/drawingml/2006/main">
            <a:r>
              <a:t>Useful number formats and readable columns</a:t>
            </a:r>
          </a:p>
          <a:p xmlns:a="http://schemas.openxmlformats.org/drawingml/2006/main">
            <a:r>
              <a:t>A table and a total row</a:t>
            </a:r>
          </a:p>
          <a:p xmlns:a="http://schemas.openxmlformats.org/drawingml/2006/main">
            <a:r>
              <a:t>One request, followed by a refinement</a:t>
            </a:r>
            <a:endParaRPr/>
          </a:p>
          <a:p xmlns:a="http://schemas.openxmlformats.org/drawingml/2006/main">
            <a:r>
              <a:t>File: copilot-data-manipulation.xlsx</a:t>
            </a:r>
          </a:p>
        </p:txBody>
      </p:sp>
    </p:spTree>
    <p:extLst>
      <p:ext uri="{BB962C8B-B14F-4D97-AF65-F5344CB8AC3E}">
        <p14:creationId xmlns:p14="http://schemas.microsoft.com/office/powerpoint/2010/main" val="323482847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65A297D-E893-1286-C61B-5020649CC4E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Data manipulation exercises</a:t>
            </a:r>
          </a:p>
        </p:txBody>
      </p:sp>
      <p:sp>
        <p:nvSpPr>
          <p:cNvPr id="3" name="Content Placeholder 2">
            <a:extLst xmlns:a="http://schemas.openxmlformats.org/drawingml/2006/main">
              <a:ext uri="{FF2B5EF4-FFF2-40B4-BE49-F238E27FC236}">
                <a16:creationId xmlns:a16="http://schemas.microsoft.com/office/drawing/2014/main" id="{9C97E8A1-2F49-CB7E-062E-D99507FD230D}"/>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Remove extra spaces from category names</a:t>
            </a:r>
          </a:p>
          <a:p xmlns:a="http://schemas.openxmlformats.org/drawingml/2006/main">
            <a:r>
              <a:t>Format date as mm/dd/yyyy</a:t>
            </a:r>
          </a:p>
          <a:p xmlns:a="http://schemas.openxmlformats.org/drawingml/2006/main">
            <a:r>
              <a:t>Format price and sales as currency</a:t>
            </a:r>
          </a:p>
          <a:p xmlns:a="http://schemas.openxmlformats.org/drawingml/2006/main">
            <a:r>
              <a:t>Add a total row for sales</a:t>
            </a:r>
          </a:p>
          <a:p xmlns:a="http://schemas.openxmlformats.org/drawingml/2006/main">
            <a:r>
              <a:t>File: copilot-data-manipulation-challenge.xlsx</a:t>
            </a:r>
          </a:p>
        </p:txBody>
      </p:sp>
    </p:spTree>
    <p:extLst>
      <p:ext uri="{BB962C8B-B14F-4D97-AF65-F5344CB8AC3E}">
        <p14:creationId xmlns:p14="http://schemas.microsoft.com/office/powerpoint/2010/main" val="321608936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65A297D-E893-1286-C61B-5020649CC4E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Useful prompts</a:t>
            </a:r>
          </a:p>
        </p:txBody>
      </p:sp>
      <p:sp>
        <p:nvSpPr>
          <p:cNvPr id="3" name="Content Placeholder 2">
            <a:extLst xmlns:a="http://schemas.openxmlformats.org/drawingml/2006/main">
              <a:ext uri="{FF2B5EF4-FFF2-40B4-BE49-F238E27FC236}">
                <a16:creationId xmlns:a16="http://schemas.microsoft.com/office/drawing/2014/main" id="{9C97E8A1-2F49-CB7E-062E-D99507FD230D}"/>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marL="0" indent="0">
              <a:buNone/>
            </a:pPr>
            <a:r>
              <a:t>Name the sheet, columns, and task</a:t>
            </a:r>
            <a:endParaRPr/>
          </a:p>
          <a:p xmlns:a="http://schemas.openxmlformats.org/drawingml/2006/main">
            <a:pPr marL="0" indent="0">
              <a:buNone/>
            </a:pPr>
            <a:r>
              <a:t>Describe the result you want</a:t>
            </a:r>
            <a:endParaRPr/>
          </a:p>
          <a:p xmlns:a="http://schemas.openxmlformats.org/drawingml/2006/main">
            <a:pPr marL="0" indent="0">
              <a:buNone/>
            </a:pPr>
            <a:r>
              <a:t>State what should stay unchanged</a:t>
            </a:r>
            <a:endParaRPr/>
          </a:p>
          <a:p xmlns:a="http://schemas.openxmlformats.org/drawingml/2006/main">
            <a:pPr marL="0" indent="0">
              <a:buNone/>
            </a:pPr>
            <a:r>
              <a:t>Refine the result with a follow-up</a:t>
            </a:r>
            <a:endParaRPr/>
          </a:p>
        </p:txBody>
      </p:sp>
    </p:spTree>
    <p:extLst>
      <p:ext uri="{BB962C8B-B14F-4D97-AF65-F5344CB8AC3E}">
        <p14:creationId xmlns:p14="http://schemas.microsoft.com/office/powerpoint/2010/main" val="403559640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1B47989-C836-CC0A-608E-2427CBD181BE}"/>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r>
              <a:t>2. Data management with Copilot</a:t>
            </a:r>
          </a:p>
        </p:txBody>
      </p:sp>
      <p:sp>
        <p:nvSpPr>
          <p:cNvPr id="3" name="Subtitle 2">
            <a:extLst xmlns:a="http://schemas.openxmlformats.org/drawingml/2006/main">
              <a:ext uri="{FF2B5EF4-FFF2-40B4-BE49-F238E27FC236}">
                <a16:creationId xmlns:a16="http://schemas.microsoft.com/office/drawing/2014/main" id="{564D5E3A-3839-5D49-C48A-F9747014E442}"/>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409100200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65A297D-E893-1286-C61B-5020649CC4E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Data management with Copilot</a:t>
            </a:r>
          </a:p>
        </p:txBody>
      </p:sp>
      <p:sp>
        <p:nvSpPr>
          <p:cNvPr id="3" name="Content Placeholder 2">
            <a:extLst xmlns:a="http://schemas.openxmlformats.org/drawingml/2006/main">
              <a:ext uri="{FF2B5EF4-FFF2-40B4-BE49-F238E27FC236}">
                <a16:creationId xmlns:a16="http://schemas.microsoft.com/office/drawing/2014/main" id="{9C97E8A1-2F49-CB7E-062E-D99507FD230D}"/>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Create and explain formula columns</a:t>
            </a:r>
          </a:p>
          <a:p xmlns:a="http://schemas.openxmlformats.org/drawingml/2006/main">
            <a:r>
              <a:t>Check a result and change an input</a:t>
            </a:r>
          </a:p>
          <a:p xmlns:a="http://schemas.openxmlformats.org/drawingml/2006/main">
            <a:r>
              <a:t>Count records and identify categories</a:t>
            </a:r>
          </a:p>
          <a:p xmlns:a="http://schemas.openxmlformats.org/drawingml/2006/main">
            <a:r>
              <a:t>Filter active products and sort by price</a:t>
            </a:r>
            <a:endParaRPr/>
          </a:p>
          <a:p xmlns:a="http://schemas.openxmlformats.org/drawingml/2006/main">
            <a:r>
              <a:t>File: copilot-data-management.xlsx</a:t>
            </a:r>
          </a:p>
        </p:txBody>
      </p:sp>
    </p:spTree>
    <p:extLst>
      <p:ext uri="{BB962C8B-B14F-4D97-AF65-F5344CB8AC3E}">
        <p14:creationId xmlns:p14="http://schemas.microsoft.com/office/powerpoint/2010/main" val="36218580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65A297D-E893-1286-C61B-5020649CC4E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Data management exercises</a:t>
            </a:r>
          </a:p>
        </p:txBody>
      </p:sp>
      <p:sp>
        <p:nvSpPr>
          <p:cNvPr id="3" name="Content Placeholder 2">
            <a:extLst xmlns:a="http://schemas.openxmlformats.org/drawingml/2006/main">
              <a:ext uri="{FF2B5EF4-FFF2-40B4-BE49-F238E27FC236}">
                <a16:creationId xmlns:a16="http://schemas.microsoft.com/office/drawing/2014/main" id="{9C97E8A1-2F49-CB7E-062E-D99507FD230D}"/>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Add total_sales using price * quantity</a:t>
            </a:r>
          </a:p>
          <a:p xmlns:a="http://schemas.openxmlformats.org/drawingml/2006/main">
            <a:r>
              <a:t>Explain and check the formula</a:t>
            </a:r>
          </a:p>
          <a:p xmlns:a="http://schemas.openxmlformats.org/drawingml/2006/main">
            <a:r>
              <a:t>Count products by cleaned category</a:t>
            </a:r>
          </a:p>
          <a:p xmlns:a="http://schemas.openxmlformats.org/drawingml/2006/main">
            <a:r>
              <a:t>Sort total_sales from highest to lowest</a:t>
            </a:r>
          </a:p>
          <a:p xmlns:a="http://schemas.openxmlformats.org/drawingml/2006/main">
            <a:r>
              <a:t>File: copilot-data-management-challenge.xlsx</a:t>
            </a:r>
            <a:endParaRPr/>
          </a:p>
        </p:txBody>
      </p:sp>
    </p:spTree>
    <p:extLst>
      <p:ext uri="{BB962C8B-B14F-4D97-AF65-F5344CB8AC3E}">
        <p14:creationId xmlns:p14="http://schemas.microsoft.com/office/powerpoint/2010/main" val="137300202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65A297D-E893-1286-C61B-5020649CC4E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Checking Copilot's work</a:t>
            </a:r>
          </a:p>
        </p:txBody>
      </p:sp>
      <p:sp>
        <p:nvSpPr>
          <p:cNvPr id="3" name="Content Placeholder 2">
            <a:extLst xmlns:a="http://schemas.openxmlformats.org/drawingml/2006/main">
              <a:ext uri="{FF2B5EF4-FFF2-40B4-BE49-F238E27FC236}">
                <a16:creationId xmlns:a16="http://schemas.microsoft.com/office/drawing/2014/main" id="{9C97E8A1-2F49-CB7E-062E-D99507FD230D}"/>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marL="0" indent="0">
              <a:buNone/>
            </a:pPr>
            <a:r>
              <a:t>Inspect the formula and its inputs</a:t>
            </a:r>
            <a:endParaRPr/>
          </a:p>
          <a:p xmlns:a="http://schemas.openxmlformats.org/drawingml/2006/main">
            <a:pPr marL="0" indent="0">
              <a:buNone/>
            </a:pPr>
            <a:r>
              <a:t>Compare totals with the source data</a:t>
            </a:r>
            <a:endParaRPr/>
          </a:p>
          <a:p xmlns:a="http://schemas.openxmlformats.org/drawingml/2006/main">
            <a:pPr marL="0" indent="0">
              <a:buNone/>
            </a:pPr>
            <a:r>
              <a:t>Check dates, units, and filters</a:t>
            </a:r>
            <a:endParaRPr/>
          </a:p>
          <a:p xmlns:a="http://schemas.openxmlformats.org/drawingml/2006/main">
            <a:pPr marL="0" indent="0">
              <a:buNone/>
            </a:pPr>
            <a:r>
              <a:t>Test a change, then restore the input</a:t>
            </a:r>
            <a:endParaRPr/>
          </a:p>
          <a:p xmlns:a="http://schemas.openxmlformats.org/drawingml/2006/main">
            <a:pPr marL="0" indent="0">
              <a:buNone/>
            </a:pPr>
            <a:r>
              <a:t>Use Undo or a saved copy when needed</a:t>
            </a:r>
            <a:endParaRPr/>
          </a:p>
        </p:txBody>
      </p:sp>
    </p:spTree>
    <p:extLst>
      <p:ext uri="{BB962C8B-B14F-4D97-AF65-F5344CB8AC3E}">
        <p14:creationId xmlns:p14="http://schemas.microsoft.com/office/powerpoint/2010/main" val="387401571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1B47989-C836-CC0A-608E-2427CBD181BE}"/>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r>
              <a:t>3. Data analysis &amp; visualization with Copilot</a:t>
            </a:r>
          </a:p>
        </p:txBody>
      </p:sp>
      <p:sp>
        <p:nvSpPr>
          <p:cNvPr id="3" name="Subtitle 2">
            <a:extLst xmlns:a="http://schemas.openxmlformats.org/drawingml/2006/main">
              <a:ext uri="{FF2B5EF4-FFF2-40B4-BE49-F238E27FC236}">
                <a16:creationId xmlns:a16="http://schemas.microsoft.com/office/drawing/2014/main" id="{564D5E3A-3839-5D49-C48A-F9747014E442}"/>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237135285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65A297D-E893-1286-C61B-5020649CC4E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Data analysis &amp; visualization with Copilot</a:t>
            </a:r>
          </a:p>
        </p:txBody>
      </p:sp>
      <p:sp>
        <p:nvSpPr>
          <p:cNvPr id="3" name="Content Placeholder 2">
            <a:extLst xmlns:a="http://schemas.openxmlformats.org/drawingml/2006/main">
              <a:ext uri="{FF2B5EF4-FFF2-40B4-BE49-F238E27FC236}">
                <a16:creationId xmlns:a16="http://schemas.microsoft.com/office/drawing/2014/main" id="{9C97E8A1-2F49-CB7E-062E-D99507FD230D}"/>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Highlight useful patterns</a:t>
            </a:r>
          </a:p>
          <a:p xmlns:a="http://schemas.openxmlformats.org/drawingml/2006/main">
            <a:r>
              <a:t>Plan a sales summary</a:t>
            </a:r>
          </a:p>
          <a:p xmlns:a="http://schemas.openxmlformats.org/drawingml/2006/main">
            <a:r>
              <a:t>Build monthly and category summaries</a:t>
            </a:r>
          </a:p>
          <a:p xmlns:a="http://schemas.openxmlformats.org/drawingml/2006/main">
            <a:r>
              <a:t>Create an editable chart and refine it</a:t>
            </a:r>
            <a:endParaRPr/>
          </a:p>
          <a:p xmlns:a="http://schemas.openxmlformats.org/drawingml/2006/main">
            <a:r>
              <a:t>File: copilot-analysis-visualization.xlsx</a:t>
            </a:r>
          </a:p>
        </p:txBody>
      </p:sp>
    </p:spTree>
    <p:extLst>
      <p:ext uri="{BB962C8B-B14F-4D97-AF65-F5344CB8AC3E}">
        <p14:creationId xmlns:p14="http://schemas.microsoft.com/office/powerpoint/2010/main" val="413061869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65A297D-E893-1286-C61B-5020649CC4E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A simple Excel forecast</a:t>
            </a:r>
          </a:p>
        </p:txBody>
      </p:sp>
      <p:sp>
        <p:nvSpPr>
          <p:cNvPr id="3" name="Content Placeholder 2">
            <a:extLst xmlns:a="http://schemas.openxmlformats.org/drawingml/2006/main">
              <a:ext uri="{FF2B5EF4-FFF2-40B4-BE49-F238E27FC236}">
                <a16:creationId xmlns:a16="http://schemas.microsoft.com/office/drawing/2014/main" id="{9C97E8A1-2F49-CB7E-062E-D99507FD230D}"/>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Use the monthly totals already created</a:t>
            </a:r>
          </a:p>
          <a:p xmlns:a="http://schemas.openxmlformats.org/drawingml/2006/main">
            <a:r>
              <a:t>Project one month with FORECAST.LINEAR</a:t>
            </a:r>
          </a:p>
          <a:p xmlns:a="http://schemas.openxmlformats.org/drawingml/2006/main">
            <a:r>
              <a:t>Keep observed and forecast values separate</a:t>
            </a:r>
          </a:p>
          <a:p xmlns:a="http://schemas.openxmlformats.org/drawingml/2006/main">
            <a:r>
              <a:t>Explain the assumption and its limits</a:t>
            </a:r>
          </a:p>
        </p:txBody>
      </p:sp>
    </p:spTree>
    <p:extLst>
      <p:ext uri="{BB962C8B-B14F-4D97-AF65-F5344CB8AC3E}">
        <p14:creationId xmlns:p14="http://schemas.microsoft.com/office/powerpoint/2010/main" val="218772553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65A297D-E893-1286-C61B-5020649CC4E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Data analysis &amp; visualization exercises</a:t>
            </a:r>
          </a:p>
        </p:txBody>
      </p:sp>
      <p:sp>
        <p:nvSpPr>
          <p:cNvPr id="3" name="Content Placeholder 2">
            <a:extLst xmlns:a="http://schemas.openxmlformats.org/drawingml/2006/main">
              <a:ext uri="{FF2B5EF4-FFF2-40B4-BE49-F238E27FC236}">
                <a16:creationId xmlns:a16="http://schemas.microsoft.com/office/drawing/2014/main" id="{9C97E8A1-2F49-CB7E-062E-D99507FD230D}"/>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Add data bars to avg_review</a:t>
            </a:r>
          </a:p>
          <a:p xmlns:a="http://schemas.openxmlformats.org/drawingml/2006/main">
            <a:r>
              <a:t>Compare avg_review and return_percentage</a:t>
            </a:r>
            <a:endParaRPr/>
          </a:p>
          <a:p xmlns:a="http://schemas.openxmlformats.org/drawingml/2006/main">
            <a:r>
              <a:t>Chart monthly revenue by year and month</a:t>
            </a:r>
          </a:p>
          <a:p xmlns:a="http://schemas.openxmlformats.org/drawingml/2006/main">
            <a:r>
              <a:t>Find the leading category by revenue</a:t>
            </a:r>
          </a:p>
          <a:p xmlns:a="http://schemas.openxmlformats.org/drawingml/2006/main">
            <a:r>
              <a:t>File: copilot-analysis-visualization-challenge.xlsx</a:t>
            </a:r>
            <a:endParaRPr/>
          </a:p>
        </p:txBody>
      </p:sp>
    </p:spTree>
    <p:extLst>
      <p:ext uri="{BB962C8B-B14F-4D97-AF65-F5344CB8AC3E}">
        <p14:creationId xmlns:p14="http://schemas.microsoft.com/office/powerpoint/2010/main" val="305887935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65A297D-E893-1286-C61B-5020649CC4E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More possibilities with Copilot</a:t>
            </a:r>
          </a:p>
        </p:txBody>
      </p:sp>
      <p:sp>
        <p:nvSpPr>
          <p:cNvPr id="3" name="Content Placeholder 2">
            <a:extLst xmlns:a="http://schemas.openxmlformats.org/drawingml/2006/main">
              <a:ext uri="{FF2B5EF4-FFF2-40B4-BE49-F238E27FC236}">
                <a16:creationId xmlns:a16="http://schemas.microsoft.com/office/drawing/2014/main" id="{9C97E8A1-2F49-CB7E-062E-D99507FD230D}"/>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Bring in data from other files or the web</a:t>
            </a:r>
          </a:p>
          <a:p xmlns:a="http://schemas.openxmlformats.org/drawingml/2006/main">
            <a:r>
              <a:t>Set preferences and workbook rules</a:t>
            </a:r>
          </a:p>
          <a:p xmlns:a="http://schemas.openxmlformats.org/drawingml/2006/main">
            <a:r>
              <a:t>Reuse a procedure with a skill</a:t>
            </a:r>
          </a:p>
          <a:p xmlns:a="http://schemas.openxmlformats.org/drawingml/2006/main">
            <a:r>
              <a:t>Check feature availability in your account</a:t>
            </a:r>
          </a:p>
        </p:txBody>
      </p:sp>
    </p:spTree>
    <p:extLst>
      <p:ext uri="{BB962C8B-B14F-4D97-AF65-F5344CB8AC3E}">
        <p14:creationId xmlns:p14="http://schemas.microsoft.com/office/powerpoint/2010/main" val="2187725530"/>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65A297D-E893-1286-C61B-5020649CC4E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What questions do you have?</a:t>
            </a:r>
          </a:p>
        </p:txBody>
      </p:sp>
      <p:sp>
        <p:nvSpPr>
          <p:cNvPr id="3" name="Content Placeholder 2">
            <a:extLst xmlns:a="http://schemas.openxmlformats.org/drawingml/2006/main">
              <a:ext uri="{FF2B5EF4-FFF2-40B4-BE49-F238E27FC236}">
                <a16:creationId xmlns:a16="http://schemas.microsoft.com/office/drawing/2014/main" id="{9C97E8A1-2F49-CB7E-062E-D99507FD230D}"/>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marL="0" indent="0">
              <a:buNone/>
            </a:pPr>
            <a:endParaRPr/>
          </a:p>
        </p:txBody>
      </p:sp>
    </p:spTree>
    <p:extLst>
      <p:ext uri="{BB962C8B-B14F-4D97-AF65-F5344CB8AC3E}">
        <p14:creationId xmlns:p14="http://schemas.microsoft.com/office/powerpoint/2010/main" val="2108344854"/>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2026-09-25T19:46:40.8640000Z</dcterms:created>
  <dcterms:modified xsi:type="dcterms:W3CDTF">2026-09-25T19:46:40.8640000Z</dcterms:modified>
</coreProperties>
</file>